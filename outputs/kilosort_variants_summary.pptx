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20">
                <a:solidFill>
                  <a:srgbClr val="0F6E6E"/>
                </a:solidFill>
                <a:latin typeface="Segoe UI"/>
              </a:rPr>
              <a:t>GROUND TRUTH · RAT SHAMIR, STRIATAL NEUROPIXELS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00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F2E"/>
                </a:solidFill>
                <a:latin typeface="Segoe UI"/>
              </a:rPr>
              <a:t>How the test data was made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1064240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F2E"/>
                </a:solidFill>
                <a:latin typeface="Segoe UI"/>
              </a:rPr>
              <a:t>Real voltage, real neurons — plus donor neurons whose every spike time we chose.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3520440" cy="1225296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75104"/>
            <a:ext cx="3008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6E6E"/>
                </a:solidFill>
                <a:latin typeface="Segoe UI"/>
              </a:rPr>
              <a:t>The donors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67712"/>
            <a:ext cx="3008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Segoe UI"/>
              </a:rPr>
              <a:t>33 units Gil labelled good, filtered for clean refractory and compact footprint. We inject their own recorded spikes — not copied templates, which flatter any sorter.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828800"/>
            <a:ext cx="3520440" cy="1225296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975104"/>
            <a:ext cx="3008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6E6E"/>
                </a:solidFill>
                <a:latin typeface="Segoe UI"/>
              </a:rPr>
              <a:t>Where they 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267712"/>
            <a:ext cx="3008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Segoe UI"/>
              </a:rPr>
              <a:t>Every probe site ranked by the amplitude of the biggest neuron already living there: 23 to 467 µV, a 20× span to build difficulty from.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828800"/>
            <a:ext cx="3520440" cy="1225296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5" y="1975104"/>
            <a:ext cx="3008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6E6E"/>
                </a:solidFill>
                <a:latin typeface="Segoe UI"/>
              </a:rPr>
              <a:t>The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5" y="2267712"/>
            <a:ext cx="3008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Segoe UI"/>
              </a:rPr>
              <a:t>13 placements × 4 recordings from different windows of the session. 52 placements, 15,086 ground-truth spikes, ~290 per unit.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2186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6E6E"/>
                </a:solidFill>
                <a:latin typeface="Segoe UI"/>
              </a:rPr>
              <a:t>The four conditions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529584"/>
            <a:ext cx="11064240" cy="14630"/>
          </a:xfrm>
          <a:prstGeom prst="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611879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Segoe UI"/>
              </a:rPr>
              <a:t>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611879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Segoe UI"/>
              </a:rPr>
              <a:t>WHERE IT GOES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611879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Segoe UI"/>
              </a:rPr>
              <a:t>WHAT MAKES IT HARD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98678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F2E"/>
                </a:solidFill>
                <a:latin typeface="Segoe UI"/>
              </a:rPr>
              <a:t>easy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023359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Segoe UI"/>
              </a:rPr>
              <a:t>quiet site, 23–70 µV neighbours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023359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Segoe UI"/>
              </a:rPr>
              <a:t>nothing — the control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" y="4416552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45537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F2E"/>
                </a:solidFill>
                <a:latin typeface="Segoe UI"/>
              </a:rPr>
              <a:t>collision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590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Segoe UI"/>
              </a:rPr>
              <a:t>quiet site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59028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Segoe UI"/>
              </a:rPr>
              <a:t>each spike overlaps a resident's spike, 0.13–0.83 ms apart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4983480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1206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F2E"/>
                </a:solidFill>
                <a:latin typeface="Segoe UI"/>
              </a:rPr>
              <a:t>pair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515721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Segoe UI"/>
              </a:rPr>
              <a:t>quiet sites, 3 channels apart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157216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Segoe UI"/>
              </a:rPr>
              <a:t>two donors side by side — must be told apart from each other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" y="5550408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66928" y="5550408"/>
            <a:ext cx="11064240" cy="566928"/>
          </a:xfrm>
          <a:prstGeom prst="roundRect">
            <a:avLst>
              <a:gd name="adj" fmla="val 3500"/>
            </a:avLst>
          </a:prstGeom>
          <a:solidFill>
            <a:srgbClr val="F7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568756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3261E"/>
                </a:solidFill>
                <a:latin typeface="Segoe UI"/>
              </a:rPr>
              <a:t>hard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572414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Segoe UI"/>
              </a:rPr>
              <a:t>loud site, 223–466 µV neighbours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72414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Segoe UI"/>
              </a:rPr>
              <a:t>a large neighbour dominates the channel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Segoe UI"/>
              </a:rPr>
              <a:t>Each donor rotates through tiers across the four recordings, </a:t>
            </a:r>
            <a:r>
              <a:rPr sz="1100" b="1">
                <a:solidFill>
                  <a:srgbClr val="1A1F2E"/>
                </a:solidFill>
                <a:latin typeface="Segoe UI"/>
              </a:rPr>
              <a:t>so a tier difference is measured within a neuron, not between neurons.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20">
                <a:solidFill>
                  <a:srgbClr val="0F6E6E"/>
                </a:solidFill>
                <a:latin typeface="Segoe UI"/>
              </a:rPr>
              <a:t>RESULTS · 52 PLACEMENTS, POOLED OVER 4 REPLICATES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00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F2E"/>
                </a:solidFill>
                <a:latin typeface="Segoe UI"/>
              </a:rPr>
              <a:t>What each variant scored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1064240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6E6E"/>
                </a:solidFill>
                <a:latin typeface="Segoe UI"/>
              </a:rPr>
              <a:t>Stock Kilosort4, by condition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325880"/>
            <a:ext cx="7059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recall holds up everywhere · precision collapses where neurons sit close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91056"/>
            <a:ext cx="2615184" cy="768096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7335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E"/>
                </a:solidFill>
                <a:latin typeface="Segoe UI"/>
              </a:rPr>
              <a:t>easy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892807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F2E"/>
                </a:solidFill>
                <a:latin typeface="Segoe UI"/>
              </a:rPr>
              <a:t>88</a:t>
            </a:r>
            <a:r>
              <a:rPr sz="120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18541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Segoe UI"/>
              </a:rPr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2807" y="1892807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F2E"/>
                </a:solidFill>
                <a:latin typeface="Segoe UI"/>
              </a:rPr>
              <a:t>76</a:t>
            </a:r>
            <a:r>
              <a:rPr sz="120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2807" y="218541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591056"/>
            <a:ext cx="2615184" cy="768096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7335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E"/>
                </a:solidFill>
                <a:latin typeface="Segoe UI"/>
              </a:rPr>
              <a:t>collision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1892807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F2E"/>
                </a:solidFill>
                <a:latin typeface="Segoe UI"/>
              </a:rPr>
              <a:t>83</a:t>
            </a:r>
            <a:r>
              <a:rPr sz="120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18541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Segoe UI"/>
              </a:rPr>
              <a:t>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892807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F2E"/>
                </a:solidFill>
                <a:latin typeface="Segoe UI"/>
              </a:rPr>
              <a:t>59</a:t>
            </a:r>
            <a:r>
              <a:rPr sz="120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18541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Segoe UI"/>
              </a:rPr>
              <a:t>precision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591056"/>
            <a:ext cx="2615184" cy="768096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67335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E"/>
                </a:solidFill>
                <a:latin typeface="Segoe UI"/>
              </a:rPr>
              <a:t>pair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892807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F2E"/>
                </a:solidFill>
                <a:latin typeface="Segoe UI"/>
              </a:rPr>
              <a:t>72</a:t>
            </a:r>
            <a:r>
              <a:rPr sz="120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8541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Segoe UI"/>
              </a:rPr>
              <a:t>recall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5512" y="1892807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F2E"/>
                </a:solidFill>
                <a:latin typeface="Segoe UI"/>
              </a:rPr>
              <a:t>49</a:t>
            </a:r>
            <a:r>
              <a:rPr sz="120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5512" y="218541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Segoe UI"/>
              </a:rPr>
              <a:t>precision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15984" y="1591056"/>
            <a:ext cx="2615184" cy="768096"/>
          </a:xfrm>
          <a:prstGeom prst="roundRect">
            <a:avLst>
              <a:gd name="adj" fmla="val 3500"/>
            </a:avLst>
          </a:prstGeom>
          <a:solidFill>
            <a:srgbClr val="F7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7152" y="167335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B3261E"/>
                </a:solidFill>
                <a:latin typeface="Segoe UI"/>
              </a:rPr>
              <a:t>hard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7152" y="1911095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B3261E"/>
                </a:solidFill>
                <a:latin typeface="Segoe UI"/>
              </a:rPr>
              <a:t>not reproducible — never quote 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542032"/>
            <a:ext cx="11064240" cy="14630"/>
          </a:xfrm>
          <a:prstGeom prst="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2615184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Segoe UI"/>
              </a:rPr>
              <a:t>ALGORITHM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615184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Segoe UI"/>
              </a:rPr>
              <a:t>WHAT IT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7184" y="2615184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Segoe UI"/>
              </a:rPr>
              <a:t>RECALL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2615184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Segoe UI"/>
              </a:rPr>
              <a:t>PRECISION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3184" y="2615184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Segoe UI"/>
              </a:rPr>
              <a:t>VS STOCK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2825496"/>
            <a:ext cx="11064240" cy="585216"/>
          </a:xfrm>
          <a:prstGeom prst="roundRect">
            <a:avLst>
              <a:gd name="adj" fmla="val 3500"/>
            </a:avLst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" y="2907791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Segoe UI"/>
              </a:rPr>
              <a:t>Stock Kilosort4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2889503"/>
            <a:ext cx="429768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the baseline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87184" y="2907791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>
                <a:solidFill>
                  <a:srgbClr val="1A1F2E"/>
                </a:solidFill>
                <a:latin typeface="Segoe UI"/>
              </a:rPr>
              <a:t>79.4</a:t>
            </a:r>
            <a:r>
              <a:rPr sz="105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4464" y="2907791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>
                <a:solidFill>
                  <a:srgbClr val="1A1F2E"/>
                </a:solidFill>
                <a:latin typeface="Segoe UI"/>
              </a:rPr>
              <a:t>60.0</a:t>
            </a:r>
            <a:r>
              <a:rPr sz="105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73184" y="294436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B7280"/>
                </a:solidFill>
                <a:latin typeface="Segoe U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3493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Segoe UI"/>
              </a:rPr>
              <a:t>Coarse + fine timing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3474720"/>
            <a:ext cx="429768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slide the snippet ±6 whole samples against the average spike shape, then correct the leftover sub-sample error from wavelet phase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87184" y="3493008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>
                <a:solidFill>
                  <a:srgbClr val="1A1F2E"/>
                </a:solidFill>
                <a:latin typeface="Segoe UI"/>
              </a:rPr>
              <a:t>77.1</a:t>
            </a:r>
            <a:r>
              <a:rPr sz="105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84464" y="3493008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>
                <a:solidFill>
                  <a:srgbClr val="1A1F2E"/>
                </a:solidFill>
                <a:latin typeface="Segoe UI"/>
              </a:rPr>
              <a:t>58.4</a:t>
            </a:r>
            <a:r>
              <a:rPr sz="105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73184" y="3529584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B7280"/>
                </a:solidFill>
                <a:latin typeface="Segoe UI"/>
              </a:rPr>
              <a:t>no gain on either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6384" y="3995928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6384" y="40782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Segoe UI"/>
              </a:rPr>
              <a:t>Noise precision matrix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4059935"/>
            <a:ext cx="429768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converge the template, whiten against the AR(4) noise covariance, then matched-filter the session for missed spikes   ·   runs AFTER Kilosort, not inside 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87184" y="407822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>
                <a:solidFill>
                  <a:srgbClr val="1A1F2E"/>
                </a:solidFill>
                <a:latin typeface="Segoe UI"/>
              </a:rPr>
              <a:t>81.1</a:t>
            </a:r>
            <a:r>
              <a:rPr sz="105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84464" y="407822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>
                <a:solidFill>
                  <a:srgbClr val="1A1F2E"/>
                </a:solidFill>
                <a:latin typeface="Segoe UI"/>
              </a:rPr>
              <a:t>55.7</a:t>
            </a:r>
            <a:r>
              <a:rPr sz="105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73184" y="4114800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B3261E"/>
                </a:solidFill>
                <a:latin typeface="Segoe UI"/>
              </a:rPr>
              <a:t>of 11,027 spikes recovered,</a:t>
            </a:r>
          </a:p>
          <a:p>
            <a:pPr algn="r"/>
            <a:r>
              <a:rPr sz="950" b="1">
                <a:solidFill>
                  <a:srgbClr val="B3261E"/>
                </a:solidFill>
                <a:latin typeface="Segoe UI"/>
              </a:rPr>
              <a:t>only 2.3% were the unit's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" y="4581144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6384" y="466344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Segoe UI"/>
              </a:rPr>
              <a:t>Footprint ×1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0" y="4645151"/>
            <a:ext cx="429768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add the spike's spatial footprint — its pattern of amplitude across nearby channels — to what the clustering sees, weighted equal to the waveform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87184" y="4663440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>
                <a:solidFill>
                  <a:srgbClr val="1A1F2E"/>
                </a:solidFill>
                <a:latin typeface="Segoe UI"/>
              </a:rPr>
              <a:t>77.1</a:t>
            </a:r>
            <a:r>
              <a:rPr sz="105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84464" y="4663440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>
                <a:solidFill>
                  <a:srgbClr val="1A1F2E"/>
                </a:solidFill>
                <a:latin typeface="Segoe UI"/>
              </a:rPr>
              <a:t>65.4</a:t>
            </a:r>
            <a:r>
              <a:rPr sz="105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73184" y="470001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B6B3A"/>
                </a:solidFill>
                <a:latin typeface="Segoe UI"/>
              </a:rPr>
              <a:t>precision +5.4  (p = 0.010)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6384" y="5166359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6384" y="5248655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Segoe UI"/>
              </a:rPr>
              <a:t>Footprint ×3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0" y="5230367"/>
            <a:ext cx="429768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the same feature weighted three times as strongly, so footprint dominates the waveform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87184" y="5248655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>
                <a:solidFill>
                  <a:srgbClr val="1A1F2E"/>
                </a:solidFill>
                <a:latin typeface="Segoe UI"/>
              </a:rPr>
              <a:t>81.2</a:t>
            </a:r>
            <a:r>
              <a:rPr sz="105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84464" y="5248655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>
                <a:solidFill>
                  <a:srgbClr val="1A1F2E"/>
                </a:solidFill>
                <a:latin typeface="Segoe UI"/>
              </a:rPr>
              <a:t>62.1</a:t>
            </a:r>
            <a:r>
              <a:rPr sz="1050" b="1">
                <a:solidFill>
                  <a:srgbClr val="6B7280"/>
                </a:solidFill>
                <a:latin typeface="Segoe UI"/>
              </a:rPr>
              <a:t>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73184" y="5285231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B6B3A"/>
                </a:solidFill>
                <a:latin typeface="Segoe UI"/>
              </a:rPr>
              <a:t>recall +1.8, precision +2.2</a:t>
            </a:r>
          </a:p>
          <a:p>
            <a:pPr algn="r"/>
            <a:r>
              <a:rPr sz="950" b="1">
                <a:solidFill>
                  <a:srgbClr val="1B6B3A"/>
                </a:solidFill>
                <a:latin typeface="Segoe UI"/>
              </a:rPr>
              <a:t>pair recall 72→80 (p = 0.038)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" y="5751575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66928" y="5833871"/>
            <a:ext cx="11064240" cy="438912"/>
          </a:xfrm>
          <a:prstGeom prst="roundRect">
            <a:avLst>
              <a:gd name="adj" fmla="val 3500"/>
            </a:avLst>
          </a:prstGeom>
          <a:solidFill>
            <a:srgbClr val="E8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4672" y="5934455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6E6E"/>
                </a:solidFill>
                <a:latin typeface="Segoe UI"/>
              </a:rPr>
              <a:t>Why footprint appears twice:  </a:t>
            </a:r>
            <a:r>
              <a:rPr sz="1100" b="0">
                <a:solidFill>
                  <a:srgbClr val="1A1F2E"/>
                </a:solidFill>
                <a:latin typeface="Segoe UI"/>
              </a:rPr>
              <a:t>one idea at two strengths, and the weight was the experiment. ×1 buys purity, ×3 buys completeness — neither wins both.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6345935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Pooled over all four tiers, as in the Shamir Sorting Audit. Noise floor: stock run twice differs by 0.9 recall / 1.6 precision, all on the hard tier.</a:t>
            </a:r>
          </a:p>
          <a:p>
            <a:pPr>
              <a:spcBef>
                <a:spcPts val="400"/>
              </a:spcBef>
            </a:pPr>
            <a:r>
              <a:rPr sz="950" b="1">
                <a:solidFill>
                  <a:srgbClr val="1A1F2E"/>
                </a:solidFill>
                <a:latin typeface="Segoe UI"/>
              </a:rPr>
              <a:t>Scores are for the one best-matching cluster per injected unit — 13 of the ~200 a run produces.  </a:t>
            </a:r>
            <a:r>
              <a:rPr sz="950" b="0">
                <a:solidFill>
                  <a:srgbClr val="6B7280"/>
                </a:solidFill>
                <a:latin typeface="Segoe UI"/>
              </a:rPr>
              <a:t>The rest are the recording's own neurons, which have no ground truth and are never scored.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20">
                <a:solidFill>
                  <a:srgbClr val="0F6E6E"/>
                </a:solidFill>
                <a:latin typeface="Segoe UI"/>
              </a:rPr>
              <a:t>THE OBVIOUS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00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F2E"/>
                </a:solidFill>
                <a:latin typeface="Segoe UI"/>
              </a:rPr>
              <a:t>Why merging the pieces back together does not help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1064240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F2E"/>
                </a:solidFill>
                <a:latin typeface="Segoe UI"/>
              </a:rPr>
              <a:t>We merged while being told the right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487168"/>
            <a:ext cx="3611880" cy="1426464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72491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0F6E6E"/>
                </a:solidFill>
                <a:latin typeface="Segoe UI"/>
              </a:rPr>
              <a:t>0 of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Segoe UI"/>
              </a:rPr>
              <a:t>conditions where merging won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2487168"/>
            <a:ext cx="3611880" cy="1426464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272491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0F6E6E"/>
                </a:solidFill>
                <a:latin typeface="Segoe UI"/>
              </a:rPr>
              <a:t>+5  /  −12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Segoe UI"/>
              </a:rPr>
              <a:t>recall gained / precision lost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487168"/>
            <a:ext cx="3611880" cy="1426464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2208" y="272491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0F6E6E"/>
                </a:solidFill>
                <a:latin typeface="Segoe UI"/>
              </a:rPr>
              <a:t>80.6%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Segoe UI"/>
              </a:rPr>
              <a:t>of what comes in is another neuron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52544"/>
            <a:ext cx="11064240" cy="1115568"/>
          </a:xfrm>
          <a:prstGeom prst="roundRect">
            <a:avLst>
              <a:gd name="adj" fmla="val 3500"/>
            </a:avLst>
          </a:prstGeom>
          <a:solidFill>
            <a:srgbClr val="E8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26864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0F6E6E"/>
                </a:solidFill>
                <a:latin typeface="Segoe UI"/>
              </a:rPr>
              <a:t>You are not merging back the missing spikes. You are merging in a neighbour.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7607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A real spike, not noise — chance is 3.9%. Most units were barely split to begin with.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