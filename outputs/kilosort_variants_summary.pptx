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20">
                <a:solidFill>
                  <a:srgbClr val="0F6E6E"/>
                </a:solidFill>
                <a:latin typeface="Segoe UI"/>
              </a:rPr>
              <a:t>SPIKE SORTING · WHAT WE TRIED AND WHAT IT BOUGHT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F2E"/>
                </a:solidFill>
                <a:latin typeface="Segoe UI"/>
              </a:rPr>
              <a:t>Kilosort4 variants on a hybrid ground-truth benchmark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11064240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89888"/>
            <a:ext cx="11064240" cy="932688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5544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6E6E"/>
                </a:solidFill>
                <a:latin typeface="Segoe UI"/>
              </a:rPr>
              <a:t>Dataset   </a:t>
            </a:r>
            <a:r>
              <a:rPr sz="1050" b="0">
                <a:solidFill>
                  <a:srgbClr val="1A1F2E"/>
                </a:solidFill>
                <a:latin typeface="Segoe UI"/>
              </a:rPr>
              <a:t>Shamir striatal Neuropixels (20260916_110311). 33 hand-reviewed real units, their own recorded snippets re-injected into real voltage at known times.</a:t>
            </a:r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6B7280"/>
                </a:solidFill>
                <a:latin typeface="Segoe UI"/>
              </a:rPr>
              <a:t>52 placements × 4 replicates (120 s windows), 15,086 truth spikes.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554480"/>
            <a:ext cx="5349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6E6E"/>
                </a:solidFill>
                <a:latin typeface="Segoe UI"/>
              </a:rPr>
              <a:t>Conditions   </a:t>
            </a:r>
            <a:r>
              <a:rPr sz="1050" b="0">
                <a:solidFill>
                  <a:srgbClr val="6B7280"/>
                </a:solidFill>
                <a:latin typeface="Segoe UI"/>
              </a:rPr>
              <a:t>set by the loudest resident neuron on the destination channel</a:t>
            </a:r>
          </a:p>
          <a:p>
            <a:pPr>
              <a:spcBef>
                <a:spcPts val="100"/>
              </a:spcBef>
            </a:pPr>
            <a:r>
              <a:rPr sz="950" b="1">
                <a:solidFill>
                  <a:srgbClr val="1A1F2E"/>
                </a:solidFill>
                <a:latin typeface="Segoe UI"/>
              </a:rPr>
              <a:t>easy   </a:t>
            </a:r>
            <a:r>
              <a:rPr sz="950" b="0">
                <a:solidFill>
                  <a:srgbClr val="6B7280"/>
                </a:solidFill>
                <a:latin typeface="Segoe UI"/>
              </a:rPr>
              <a:t>23–70 µV neighbour</a:t>
            </a:r>
          </a:p>
          <a:p>
            <a:pPr>
              <a:spcBef>
                <a:spcPts val="100"/>
              </a:spcBef>
            </a:pPr>
            <a:r>
              <a:rPr sz="950" b="1">
                <a:solidFill>
                  <a:srgbClr val="1A1F2E"/>
                </a:solidFill>
                <a:latin typeface="Segoe UI"/>
              </a:rPr>
              <a:t>collision   </a:t>
            </a:r>
            <a:r>
              <a:rPr sz="950" b="0">
                <a:solidFill>
                  <a:srgbClr val="6B7280"/>
                </a:solidFill>
                <a:latin typeface="Segoe UI"/>
              </a:rPr>
              <a:t>quiet site, spike 4–25 samples from a resident's</a:t>
            </a:r>
          </a:p>
          <a:p>
            <a:pPr>
              <a:spcBef>
                <a:spcPts val="100"/>
              </a:spcBef>
            </a:pPr>
            <a:r>
              <a:rPr sz="950" b="1">
                <a:solidFill>
                  <a:srgbClr val="1A1F2E"/>
                </a:solidFill>
                <a:latin typeface="Segoe UI"/>
              </a:rPr>
              <a:t>pair   </a:t>
            </a:r>
            <a:r>
              <a:rPr sz="950" b="0">
                <a:solidFill>
                  <a:srgbClr val="6B7280"/>
                </a:solidFill>
                <a:latin typeface="Segoe UI"/>
              </a:rPr>
              <a:t>two donors 181–242 µm apart, similarity 0.000</a:t>
            </a:r>
          </a:p>
          <a:p>
            <a:pPr>
              <a:spcBef>
                <a:spcPts val="100"/>
              </a:spcBef>
            </a:pPr>
            <a:r>
              <a:rPr sz="950" b="1">
                <a:solidFill>
                  <a:srgbClr val="1A1F2E"/>
                </a:solidFill>
                <a:latin typeface="Segoe UI"/>
              </a:rPr>
              <a:t>hard   </a:t>
            </a:r>
            <a:r>
              <a:rPr sz="950" b="0">
                <a:solidFill>
                  <a:srgbClr val="6B7280"/>
                </a:solidFill>
                <a:latin typeface="Segoe UI"/>
              </a:rPr>
              <a:t>223–466 µV — NOT measurable, excluded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42032"/>
            <a:ext cx="11064240" cy="14630"/>
          </a:xfrm>
          <a:prstGeom prst="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624327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Segoe UI"/>
              </a:rPr>
              <a:t>VARIANT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624327"/>
            <a:ext cx="5394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Segoe UI"/>
              </a:rPr>
              <a:t>WHAT IT ADDS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8048" y="2624327"/>
            <a:ext cx="9601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Segoe UI"/>
              </a:rPr>
              <a:t>RECALL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33888" y="2624327"/>
            <a:ext cx="9601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280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62072"/>
            <a:ext cx="11064240" cy="475488"/>
          </a:xfrm>
          <a:prstGeom prst="roundRect">
            <a:avLst>
              <a:gd name="adj" fmla="val 4000"/>
            </a:avLst>
          </a:prstGeom>
          <a:solidFill>
            <a:srgbClr val="EC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926079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1F2E"/>
                </a:solidFill>
                <a:latin typeface="Segoe UI"/>
              </a:rPr>
              <a:t>Stock Kilosort4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916935"/>
            <a:ext cx="534924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Segoe UI"/>
              </a:rPr>
              <a:t>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8048" y="2926079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>
                <a:solidFill>
                  <a:srgbClr val="1A1F2E"/>
                </a:solidFill>
                <a:latin typeface="Segoe UI"/>
              </a:rPr>
              <a:t>.794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3888" y="2926079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>
                <a:solidFill>
                  <a:srgbClr val="1A1F2E"/>
                </a:solidFill>
                <a:latin typeface="Segoe UI"/>
              </a:rPr>
              <a:t>.600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" y="3337560"/>
            <a:ext cx="10625328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3401568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1F2E"/>
                </a:solidFill>
                <a:latin typeface="Segoe UI"/>
              </a:rPr>
              <a:t>+ Wavelet sub-sample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392423"/>
            <a:ext cx="534924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Segoe UI"/>
              </a:rPr>
              <a:t>Morlet-wavelet phase places each spike to a fraction of a sample, so a template is not an average of smeared spikes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8048" y="340156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>
                <a:solidFill>
                  <a:srgbClr val="6B7280"/>
                </a:solidFill>
                <a:latin typeface="Segoe UI"/>
              </a:rPr>
              <a:t>n.s.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33888" y="340156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>
                <a:solidFill>
                  <a:srgbClr val="6B7280"/>
                </a:solidFill>
                <a:latin typeface="Segoe UI"/>
              </a:rPr>
              <a:t>n.s.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" y="3813048"/>
            <a:ext cx="10625328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" y="3877055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1F2E"/>
                </a:solidFill>
                <a:latin typeface="Segoe UI"/>
              </a:rPr>
              <a:t>+ AR(4) temporal precision matrix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3867911"/>
            <a:ext cx="534924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Segoe UI"/>
              </a:rPr>
              <a:t>Kilosort whitens channel×channel only; this models noise correlation in TIME   (tested post-hoc, not inside KS)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8048" y="3877055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>
                <a:solidFill>
                  <a:srgbClr val="6B7280"/>
                </a:solidFill>
                <a:latin typeface="Segoe UI"/>
              </a:rPr>
              <a:t>+1.7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33888" y="3877055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>
                <a:solidFill>
                  <a:srgbClr val="B3261E"/>
                </a:solidFill>
                <a:latin typeface="Segoe UI"/>
              </a:rPr>
              <a:t>−4.3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6384" y="4288536"/>
            <a:ext cx="10625328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" y="4352544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1F2E"/>
                </a:solidFill>
                <a:latin typeface="Segoe UI"/>
              </a:rPr>
              <a:t>+ Amplitude normalisation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4343400"/>
            <a:ext cx="534924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Segoe UI"/>
              </a:rPr>
              <a:t>divide out each spike's own amplitude before clustering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8048" y="435254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>
                <a:solidFill>
                  <a:srgbClr val="B3261E"/>
                </a:solidFill>
                <a:latin typeface="Segoe UI"/>
              </a:rPr>
              <a:t>−3.4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33888" y="435254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>
                <a:solidFill>
                  <a:srgbClr val="6B7280"/>
                </a:solidFill>
                <a:latin typeface="Segoe UI"/>
              </a:rPr>
              <a:t>n.s.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" y="4764024"/>
            <a:ext cx="10625328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4828031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1F2E"/>
                </a:solidFill>
                <a:latin typeface="Segoe UI"/>
              </a:rPr>
              <a:t>+ Spatial footprint → graph, w3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39" y="4818888"/>
            <a:ext cx="534924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Segoe UI"/>
              </a:rPr>
              <a:t>the per-channel amplitude pattern added as extra clustering dimensions, inside Kilosort's kNN graph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8048" y="4828031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>
                <a:solidFill>
                  <a:srgbClr val="1B6B3A"/>
                </a:solidFill>
                <a:latin typeface="Segoe UI"/>
              </a:rPr>
              <a:t>+4.8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3888" y="4828031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>
                <a:solidFill>
                  <a:srgbClr val="6B7280"/>
                </a:solidFill>
                <a:latin typeface="Segoe UI"/>
              </a:rPr>
              <a:t>−3.3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6384" y="5239512"/>
            <a:ext cx="10625328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5303519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1F2E"/>
                </a:solidFill>
                <a:latin typeface="Segoe UI"/>
              </a:rPr>
              <a:t>+ Spatial footprint → graph+seed, w1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77639" y="5294375"/>
            <a:ext cx="534924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Segoe UI"/>
              </a:rPr>
              <a:t>same feature at lower weight, also shown to the kmeans++ seeding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5303519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>
                <a:solidFill>
                  <a:srgbClr val="6B7280"/>
                </a:solidFill>
                <a:latin typeface="Segoe UI"/>
              </a:rPr>
              <a:t>n.s.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33888" y="5303519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>
                <a:solidFill>
                  <a:srgbClr val="1B6B3A"/>
                </a:solidFill>
                <a:latin typeface="Segoe UI"/>
              </a:rPr>
              <a:t>+6.6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852159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B7280"/>
                </a:solidFill>
                <a:latin typeface="Segoe UI"/>
              </a:rPr>
              <a:t>Points vs stock, paired Wilcoxon on identical placements, easy+collision+pair only.  </a:t>
            </a:r>
            <a:r>
              <a:rPr sz="950" b="1">
                <a:solidFill>
                  <a:srgbClr val="1A1F2E"/>
                </a:solidFill>
                <a:latin typeface="Segoe UI"/>
              </a:rPr>
              <a:t>Significant: footprint-graph-w3 recall p=0.001 (better in all four replicates) · footprint-w1 precision p=0.009 · amplitude normalisation p=0.012.  </a:t>
            </a:r>
            <a:r>
              <a:rPr sz="950" b="0">
                <a:solidFill>
                  <a:srgbClr val="6B7280"/>
                </a:solidFill>
                <a:latin typeface="Segoe UI"/>
              </a:rPr>
              <a:t>n.s. = not distinguishable from stock. Hard tier excluded — two identical runs disagree by up to 0.444 recall.</a:t>
            </a:r>
          </a:p>
          <a:p>
            <a:pPr>
              <a:spcBef>
                <a:spcPts val="800"/>
              </a:spcBef>
            </a:pPr>
            <a:r>
              <a:rPr sz="950" b="1">
                <a:solidFill>
                  <a:srgbClr val="1A1F2E"/>
                </a:solidFill>
                <a:latin typeface="Segoe UI"/>
              </a:rPr>
              <a:t>These scores are for the single best-matching cluster per injected unit — 13 clusters of the ~238 a run produces.  </a:t>
            </a:r>
            <a:r>
              <a:rPr sz="950" b="0">
                <a:solidFill>
                  <a:srgbClr val="6B7280"/>
                </a:solidFill>
                <a:latin typeface="Segoe UI"/>
              </a:rPr>
              <a:t>The other ~225 are the recording's own resident neurons, which have no ground truth and are never scored; injected units also sit in 1.27–1.38 substantial clusters on average, so a second fragment of the same unit is left out of these numbers too.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20">
                <a:solidFill>
                  <a:srgbClr val="0F6E6E"/>
                </a:solidFill>
                <a:latin typeface="Segoe UI"/>
              </a:rPr>
              <a:t>THE OBVIOUS FIX, TESTED AT THE ORACLE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F2E"/>
                </a:solidFill>
                <a:latin typeface="Segoe UI"/>
              </a:rPr>
              <a:t>Why merging the fragments back together does not help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11064240" cy="11887"/>
          </a:xfrm>
          <a:prstGeom prst="rect">
            <a:avLst/>
          </a:prstGeom>
          <a:solidFill>
            <a:srgbClr val="D7D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F2E"/>
                </a:solidFill>
                <a:latin typeface="Segoe UI"/>
              </a:rPr>
              <a:t>We merged while knowing the true fragments — the best any merge tool could ever do. It still trades down everywhere.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93392"/>
            <a:ext cx="11064240" cy="9144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1396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6E6E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2121408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E"/>
                </a:solidFill>
                <a:latin typeface="Segoe UI"/>
              </a:rPr>
              <a:t>There is barely anything to merge.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280"/>
                </a:solidFill>
                <a:latin typeface="Segoe UI"/>
              </a:rPr>
              <a:t>67–77% of injected units already sit in ONE substantial cluster; the mean is 1.27–1.38 fragments and the maximum anywhere is 3. There is no three-way split waiting to be rejoined.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971800"/>
            <a:ext cx="1106424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11810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6E6E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3099816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E"/>
                </a:solidFill>
                <a:latin typeface="Segoe UI"/>
              </a:rPr>
              <a:t>Combining loses in all 16 algorithm × tier cells.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280"/>
                </a:solidFill>
                <a:latin typeface="Segoe UI"/>
              </a:rPr>
              <a:t>+3 to +7 recall points bought for −4 to −22 precision. The best case anywhere, on the easiest tier, is +3.2 recall for −3.6 precision.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950208"/>
            <a:ext cx="11064240" cy="9144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0965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6E6E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407822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E"/>
                </a:solidFill>
                <a:latin typeface="Segoe UI"/>
              </a:rPr>
              <a:t>What comes in with the extra spikes is not noise — it is other neurons.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280"/>
                </a:solidFill>
                <a:latin typeface="Segoe UI"/>
              </a:rPr>
              <a:t>80.6% of what counts against precision is a neighbouring resident neuron's REAL spike, against a measured chance rate of 3.9%. Merging a fragment imports a neighbour's spike train, so the cluster stops being one cell.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928616"/>
            <a:ext cx="1106424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50749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6E6E"/>
                </a:solidFill>
                <a:latin typeface="Segoe U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3584" y="5056632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E"/>
                </a:solidFill>
                <a:latin typeface="Segoe UI"/>
              </a:rPr>
              <a:t>A perfect merge tool makes every variant the same.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280"/>
                </a:solidFill>
                <a:latin typeface="Segoe UI"/>
              </a:rPr>
              <a:t>All configurations converge to ≈ .78 recall / .46 precision once merged, so merging cannot separate the algorithms — and it erases the footprint gain that is the project's one real win.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980176"/>
            <a:ext cx="11064240" cy="603504"/>
          </a:xfrm>
          <a:prstGeom prst="roundRect">
            <a:avLst>
              <a:gd name="adj" fmla="val 4000"/>
            </a:avLst>
          </a:prstGeom>
          <a:solidFill>
            <a:srgbClr val="E8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6108192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6E6E"/>
                </a:solidFill>
                <a:latin typeface="Segoe UI"/>
              </a:rPr>
              <a:t>So the loss is not detection and not splitting.  </a:t>
            </a:r>
            <a:r>
              <a:rPr sz="1150" b="0">
                <a:solidFill>
                  <a:srgbClr val="1A1F2E"/>
                </a:solidFill>
                <a:latin typeface="Segoe UI"/>
              </a:rPr>
              <a:t>94–96% of injected spikes do land in some cluster — the failure is which cluster each spike is assigned to. The live lead is the opposite operation: SPLITTING Kilosort's mixed clusters.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