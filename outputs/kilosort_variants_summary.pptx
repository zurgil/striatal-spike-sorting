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0F6E6E"/>
                </a:solidFill>
                <a:latin typeface="Segoe UI"/>
              </a:rPr>
              <a:t>GROUND TRUTH · RAT SHAMIR, STRIATAL NEUROPIXELS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F2E"/>
                </a:solidFill>
                <a:latin typeface="Segoe UI"/>
              </a:rPr>
              <a:t>How the test data was made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64240" cy="11887"/>
          </a:xfrm>
          <a:prstGeom prst="rect">
            <a:avLst/>
          </a:prstGeom>
          <a:solidFill>
            <a:srgbClr val="D7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335024"/>
            <a:ext cx="11064240" cy="475488"/>
          </a:xfrm>
          <a:prstGeom prst="roundRect">
            <a:avLst>
              <a:gd name="adj" fmla="val 3500"/>
            </a:avLst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4630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F2E"/>
                </a:solidFill>
                <a:latin typeface="Segoe UI"/>
              </a:rPr>
              <a:t>On a real recording nobody knows which neuron a spike came from.  </a:t>
            </a:r>
            <a:r>
              <a:rPr sz="1250" b="0">
                <a:solidFill>
                  <a:srgbClr val="1A1F2E"/>
                </a:solidFill>
                <a:latin typeface="Segoe UI"/>
              </a:rPr>
              <a:t>So we built recordings where we do: real voltage with its real neurons still in it, plus a few donor neurons whose every spike time we chose ourselves.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5257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6E6E"/>
                </a:solidFill>
                <a:latin typeface="Segoe UI"/>
              </a:rPr>
              <a:t>1 · Choosing the donor neurons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22576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F2E"/>
                </a:solidFill>
                <a:latin typeface="Segoe UI"/>
              </a:rPr>
              <a:t>Hand-reviewed.  </a:t>
            </a:r>
            <a:r>
              <a:rPr sz="1050" b="0">
                <a:solidFill>
                  <a:srgbClr val="6B7280"/>
                </a:solidFill>
                <a:latin typeface="Segoe UI"/>
              </a:rPr>
              <a:t>Gil reviewed every candidate in the review tool; the 33 labelled good became the donor pool.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A1F2E"/>
                </a:solidFill>
                <a:latin typeface="Segoe UI"/>
              </a:rPr>
              <a:t>Then filtered.  </a:t>
            </a:r>
            <a:r>
              <a:rPr sz="1050" b="0">
                <a:solidFill>
                  <a:srgbClr val="6B7280"/>
                </a:solidFill>
                <a:latin typeface="Segoe UI"/>
              </a:rPr>
              <a:t>low contamination (clean refractory period), and a compact spatial footprint.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A1F2E"/>
                </a:solidFill>
                <a:latin typeface="Segoe UI"/>
              </a:rPr>
              <a:t>Pairs checked separately.  </a:t>
            </a:r>
            <a:r>
              <a:rPr sz="1050" b="0">
                <a:solidFill>
                  <a:srgbClr val="6B7280"/>
                </a:solidFill>
                <a:latin typeface="Segoe UI"/>
              </a:rPr>
              <a:t>a cross-correlogram refractory test confirms the two donors are really different cells, not one cell Kilosort had split.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A1F2E"/>
                </a:solidFill>
                <a:latin typeface="Segoe UI"/>
              </a:rPr>
              <a:t>Real snippets, not templates.  </a:t>
            </a:r>
            <a:r>
              <a:rPr sz="1050" b="0">
                <a:solidFill>
                  <a:srgbClr val="6B7280"/>
                </a:solidFill>
                <a:latin typeface="Segoe UI"/>
              </a:rPr>
              <a:t>we inject the neuron's own recorded spikes. A copied template is identical every time, which flatters any sorter — real spikes vary in shape and amplitude, and that variation is what makes sorting hard.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2011680"/>
            <a:ext cx="524865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6E6E"/>
                </a:solidFill>
                <a:latin typeface="Segoe UI"/>
              </a:rPr>
              <a:t>2 · Choosing where to put 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322576"/>
            <a:ext cx="524865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F2E"/>
                </a:solidFill>
                <a:latin typeface="Segoe UI"/>
              </a:rPr>
              <a:t>Sites ranked by their loudest resident.  </a:t>
            </a:r>
            <a:r>
              <a:rPr sz="1050" b="0">
                <a:solidFill>
                  <a:srgbClr val="6B7280"/>
                </a:solidFill>
                <a:latin typeface="Segoe UI"/>
              </a:rPr>
              <a:t>every probe site scored by the amplitude of the biggest neuron already living there — 23 to 467 µV across this probe, a 20× contrast to build difficulty from.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A1F2E"/>
                </a:solidFill>
                <a:latin typeface="Segoe UI"/>
              </a:rPr>
              <a:t>Spikes dodge the residents.  </a:t>
            </a:r>
            <a:r>
              <a:rPr sz="1050" b="0">
                <a:solidFill>
                  <a:srgbClr val="6B7280"/>
                </a:solidFill>
                <a:latin typeface="Segoe UI"/>
              </a:rPr>
              <a:t>injection times keep a 75-sample guard from a resident neuron's own spikes — except on the collision tier, where the overlap is the point.</a:t>
            </a:r>
          </a:p>
          <a:p>
            <a:pPr>
              <a:spcBef>
                <a:spcPts val="600"/>
              </a:spcBef>
            </a:pPr>
            <a:r>
              <a:rPr sz="1050" b="1">
                <a:solidFill>
                  <a:srgbClr val="1A1F2E"/>
                </a:solidFill>
                <a:latin typeface="Segoe UI"/>
              </a:rPr>
              <a:t>Each unit rotates through tiers.  </a:t>
            </a:r>
            <a:r>
              <a:rPr sz="1050" b="0">
                <a:solidFill>
                  <a:srgbClr val="6B7280"/>
                </a:solidFill>
                <a:latin typeface="Segoe UI"/>
              </a:rPr>
              <a:t>a donor appears at a different difficulty in each recording, so a tier difference is measured within a neuron rather than between neurons.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005072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6E6E"/>
                </a:solidFill>
                <a:latin typeface="Segoe UI"/>
              </a:rPr>
              <a:t>3 · The four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023359"/>
            <a:ext cx="76992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13 placements per recording · 4 recordings from different windows of the session · ~290 spikes 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279392"/>
            <a:ext cx="11064240" cy="1463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352544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Segoe UI"/>
              </a:rPr>
              <a:t>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435254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Segoe UI"/>
              </a:rPr>
              <a:t>PER REC.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352544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Segoe UI"/>
              </a:rPr>
              <a:t>WHERE IT GOES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435254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Segoe UI"/>
              </a:rPr>
              <a:t>WHAT MAKES IT HARD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6268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Segoe UI"/>
              </a:rPr>
              <a:t>easy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75104" y="46360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F2E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360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2E"/>
                </a:solidFill>
                <a:latin typeface="Segoe UI"/>
              </a:rPr>
              <a:t>quiet site, 23–70 µV neighbours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617720"/>
            <a:ext cx="5760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nothing — this is the 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010912"/>
            <a:ext cx="10625328" cy="11887"/>
          </a:xfrm>
          <a:prstGeom prst="rect">
            <a:avLst/>
          </a:prstGeom>
          <a:solidFill>
            <a:srgbClr val="D7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06577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Segoe UI"/>
              </a:rPr>
              <a:t>collision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5104" y="50749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F2E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0749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2E"/>
                </a:solidFill>
                <a:latin typeface="Segoe UI"/>
              </a:rPr>
              <a:t>quiet site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5056631"/>
            <a:ext cx="5760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each spike placed 4–25 samples (0.13–0.83 ms) from a real resident's spike, so the two waveforms physically overlap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5449824"/>
            <a:ext cx="10625328" cy="11887"/>
          </a:xfrm>
          <a:prstGeom prst="rect">
            <a:avLst/>
          </a:prstGeom>
          <a:solidFill>
            <a:srgbClr val="D7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5046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Segoe UI"/>
              </a:rPr>
              <a:t>pair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75104" y="551383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F2E"/>
                </a:solidFill>
                <a:latin typeface="Segoe UI"/>
              </a:rPr>
              <a:t>2 pairs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51383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2E"/>
                </a:solidFill>
                <a:latin typeface="Segoe UI"/>
              </a:rPr>
              <a:t>quiet sites, 3 channels apart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5495544"/>
            <a:ext cx="5760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two donors put side by side — they must be told apart from each other. Remote in the real recording (181–242 µm, similarity 0.000), so they cannot be one split cell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" y="5888736"/>
            <a:ext cx="10625328" cy="11887"/>
          </a:xfrm>
          <a:prstGeom prst="rect">
            <a:avLst/>
          </a:prstGeom>
          <a:solidFill>
            <a:srgbClr val="D7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5888736"/>
            <a:ext cx="11064240" cy="438912"/>
          </a:xfrm>
          <a:prstGeom prst="roundRect">
            <a:avLst>
              <a:gd name="adj" fmla="val 3500"/>
            </a:avLst>
          </a:prstGeom>
          <a:solidFill>
            <a:srgbClr val="F7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59436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3261E"/>
                </a:solidFill>
                <a:latin typeface="Segoe UI"/>
              </a:rPr>
              <a:t>hard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5104" y="595274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A1F2E"/>
                </a:solidFill>
                <a:latin typeface="Segoe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952744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A1F2E"/>
                </a:solidFill>
                <a:latin typeface="Segoe UI"/>
              </a:rPr>
              <a:t>loud site, 223–466 µV neighbours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5934456"/>
            <a:ext cx="5760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a large neighbour dominates the channel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F2E"/>
                </a:solidFill>
                <a:latin typeface="Segoe UI"/>
              </a:rPr>
              <a:t>52 placements · 15,086 ground-truth spikes.  </a:t>
            </a:r>
            <a:r>
              <a:rPr sz="1050" b="0">
                <a:solidFill>
                  <a:srgbClr val="6B7280"/>
                </a:solidFill>
                <a:latin typeface="Segoe UI"/>
              </a:rPr>
              <a:t>Stock Kilosort is also run twice as a configuration — the noise floor, and how we know the hard tier is unreliable.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0F6E6E"/>
                </a:solidFill>
                <a:latin typeface="Segoe UI"/>
              </a:rPr>
              <a:t>RESULTS · 52 PLACEMENTS, POOLED OVER 4 REPLICATES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F2E"/>
                </a:solidFill>
                <a:latin typeface="Segoe UI"/>
              </a:rPr>
              <a:t>What each variant scored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64240" cy="11887"/>
          </a:xfrm>
          <a:prstGeom prst="rect">
            <a:avLst/>
          </a:prstGeom>
          <a:solidFill>
            <a:srgbClr val="D7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1673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6E6E"/>
                </a:solidFill>
                <a:latin typeface="Segoe UI"/>
              </a:rPr>
              <a:t>Stock Kilosort4, by 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44168"/>
            <a:ext cx="705916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Segoe UI"/>
              </a:rPr>
              <a:t>recall holds up everywhere · precision collapses where neurons sit close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27632"/>
            <a:ext cx="2615184" cy="78638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1907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E"/>
                </a:solidFill>
                <a:latin typeface="Segoe UI"/>
              </a:rPr>
              <a:t>easy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9385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F2E"/>
                </a:solidFill>
                <a:latin typeface="Segoe UI"/>
              </a:rPr>
              <a:t>88</a:t>
            </a:r>
            <a:r>
              <a:rPr sz="120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311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92807" y="19385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F2E"/>
                </a:solidFill>
                <a:latin typeface="Segoe UI"/>
              </a:rPr>
              <a:t>76</a:t>
            </a:r>
            <a:r>
              <a:rPr sz="120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22311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627632"/>
            <a:ext cx="2615184" cy="78638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71907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E"/>
                </a:solidFill>
                <a:latin typeface="Segoe UI"/>
              </a:rPr>
              <a:t>collision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9385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F2E"/>
                </a:solidFill>
                <a:latin typeface="Segoe UI"/>
              </a:rPr>
              <a:t>83</a:t>
            </a:r>
            <a:r>
              <a:rPr sz="120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2311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9385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F2E"/>
                </a:solidFill>
                <a:latin typeface="Segoe UI"/>
              </a:rPr>
              <a:t>59</a:t>
            </a:r>
            <a:r>
              <a:rPr sz="120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2311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precision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627632"/>
            <a:ext cx="2615184" cy="786384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71907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E"/>
                </a:solidFill>
                <a:latin typeface="Segoe UI"/>
              </a:rPr>
              <a:t>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385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F2E"/>
                </a:solidFill>
                <a:latin typeface="Segoe UI"/>
              </a:rPr>
              <a:t>72</a:t>
            </a:r>
            <a:r>
              <a:rPr sz="120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311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recall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193852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F2E"/>
                </a:solidFill>
                <a:latin typeface="Segoe UI"/>
              </a:rPr>
              <a:t>49</a:t>
            </a:r>
            <a:r>
              <a:rPr sz="120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22311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Segoe UI"/>
              </a:rPr>
              <a:t>precision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5984" y="1627632"/>
            <a:ext cx="2615184" cy="786384"/>
          </a:xfrm>
          <a:prstGeom prst="roundRect">
            <a:avLst>
              <a:gd name="adj" fmla="val 3500"/>
            </a:avLst>
          </a:prstGeom>
          <a:solidFill>
            <a:srgbClr val="F7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7152" y="1719072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3261E"/>
                </a:solidFill>
                <a:latin typeface="Segoe UI"/>
              </a:rPr>
              <a:t>hard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1956816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B3261E"/>
                </a:solidFill>
                <a:latin typeface="Segoe UI"/>
              </a:rPr>
              <a:t>not reproducible — never quote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670048"/>
            <a:ext cx="11064240" cy="1463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2743200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Segoe UI"/>
              </a:rPr>
              <a:t>ALGORITHM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43200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Segoe UI"/>
              </a:rPr>
              <a:t>WHAT IT CHANGES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4" y="27432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Segoe UI"/>
              </a:rPr>
              <a:t>RECALL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274320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Segoe UI"/>
              </a:rPr>
              <a:t>PRECISION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73184" y="2743200"/>
            <a:ext cx="215798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6B7280"/>
                </a:solidFill>
                <a:latin typeface="Segoe UI"/>
              </a:rPr>
              <a:t>VS STOCK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2971800"/>
            <a:ext cx="11064240" cy="694944"/>
          </a:xfrm>
          <a:prstGeom prst="roundRect">
            <a:avLst>
              <a:gd name="adj" fmla="val 3500"/>
            </a:avLst>
          </a:prstGeom>
          <a:solidFill>
            <a:srgbClr val="E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30723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F2E"/>
                </a:solidFill>
                <a:latin typeface="Segoe UI"/>
              </a:rPr>
              <a:t>Stock Kilosort4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054096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Segoe UI"/>
              </a:rPr>
              <a:t>the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7184" y="307238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1A1F2E"/>
                </a:solidFill>
                <a:latin typeface="Segoe UI"/>
              </a:rPr>
              <a:t>79.4</a:t>
            </a:r>
            <a:r>
              <a:rPr sz="105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4464" y="3072384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1A1F2E"/>
                </a:solidFill>
                <a:latin typeface="Segoe UI"/>
              </a:rPr>
              <a:t>60.0</a:t>
            </a:r>
            <a:r>
              <a:rPr sz="105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73184" y="3108960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Segoe U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3767327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F2E"/>
                </a:solidFill>
                <a:latin typeface="Segoe UI"/>
              </a:rPr>
              <a:t>Coarse + fine timing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3749039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Segoe UI"/>
              </a:rPr>
              <a:t>slide the snippet ±6 whole samples against the average spike shape, then correct the leftover sub-sample error from wavelet phase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87184" y="376732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1A1F2E"/>
                </a:solidFill>
                <a:latin typeface="Segoe UI"/>
              </a:rPr>
              <a:t>77.1</a:t>
            </a:r>
            <a:r>
              <a:rPr sz="105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376732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1A1F2E"/>
                </a:solidFill>
                <a:latin typeface="Segoe UI"/>
              </a:rPr>
              <a:t>58.4</a:t>
            </a:r>
            <a:r>
              <a:rPr sz="105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73184" y="3803903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Segoe UI"/>
              </a:rPr>
              <a:t>no gain on either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" y="4361688"/>
            <a:ext cx="10625328" cy="11887"/>
          </a:xfrm>
          <a:prstGeom prst="rect">
            <a:avLst/>
          </a:prstGeom>
          <a:solidFill>
            <a:srgbClr val="D7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4462271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F2E"/>
                </a:solidFill>
                <a:latin typeface="Segoe UI"/>
              </a:rPr>
              <a:t>Footprint ×1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4443983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Segoe UI"/>
              </a:rPr>
              <a:t>add the spike's spatial footprint — its pattern of amplitude across nearby channels — to what the clustering sees, weighted equal to the waveform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87184" y="4462271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1A1F2E"/>
                </a:solidFill>
                <a:latin typeface="Segoe UI"/>
              </a:rPr>
              <a:t>77.1</a:t>
            </a:r>
            <a:r>
              <a:rPr sz="105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4462271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1A1F2E"/>
                </a:solidFill>
                <a:latin typeface="Segoe UI"/>
              </a:rPr>
              <a:t>65.4</a:t>
            </a:r>
            <a:r>
              <a:rPr sz="105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73184" y="4498847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B6B3A"/>
                </a:solidFill>
                <a:latin typeface="Segoe UI"/>
              </a:rPr>
              <a:t>precision +5.4  (p = 0.010)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6384" y="5056631"/>
            <a:ext cx="10625328" cy="11887"/>
          </a:xfrm>
          <a:prstGeom prst="rect">
            <a:avLst/>
          </a:prstGeom>
          <a:solidFill>
            <a:srgbClr val="D7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6384" y="5157215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F2E"/>
                </a:solidFill>
                <a:latin typeface="Segoe UI"/>
              </a:rPr>
              <a:t>Footprint ×3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5138927"/>
            <a:ext cx="42976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Segoe UI"/>
              </a:rPr>
              <a:t>the same feature weighted three times as strongly, so footprint dominates the waveform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87184" y="5157215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1A1F2E"/>
                </a:solidFill>
                <a:latin typeface="Segoe UI"/>
              </a:rPr>
              <a:t>81.2</a:t>
            </a:r>
            <a:r>
              <a:rPr sz="105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4464" y="5157215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>
                <a:solidFill>
                  <a:srgbClr val="1A1F2E"/>
                </a:solidFill>
                <a:latin typeface="Segoe UI"/>
              </a:rPr>
              <a:t>62.1</a:t>
            </a:r>
            <a:r>
              <a:rPr sz="1050" b="1">
                <a:solidFill>
                  <a:srgbClr val="6B7280"/>
                </a:solidFill>
                <a:latin typeface="Segoe UI"/>
              </a:rPr>
              <a:t>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73184" y="5193791"/>
            <a:ext cx="21579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B6B3A"/>
                </a:solidFill>
                <a:latin typeface="Segoe UI"/>
              </a:rPr>
              <a:t>recall +1.8, precision +2.2</a:t>
            </a:r>
          </a:p>
          <a:p>
            <a:pPr algn="r"/>
            <a:r>
              <a:rPr sz="950" b="1">
                <a:solidFill>
                  <a:srgbClr val="1B6B3A"/>
                </a:solidFill>
                <a:latin typeface="Segoe UI"/>
              </a:rPr>
              <a:t>pair recall 72→80 (p = 0.038)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6384" y="5751575"/>
            <a:ext cx="10625328" cy="11887"/>
          </a:xfrm>
          <a:prstGeom prst="rect">
            <a:avLst/>
          </a:prstGeom>
          <a:solidFill>
            <a:srgbClr val="D7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66928" y="5852159"/>
            <a:ext cx="11064240" cy="475488"/>
          </a:xfrm>
          <a:prstGeom prst="roundRect">
            <a:avLst>
              <a:gd name="adj" fmla="val 3500"/>
            </a:avLst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961887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6E6E"/>
                </a:solidFill>
                <a:latin typeface="Segoe UI"/>
              </a:rPr>
              <a:t>Why footprint appears twice:  </a:t>
            </a:r>
            <a:r>
              <a:rPr sz="1100" b="0">
                <a:solidFill>
                  <a:srgbClr val="1A1F2E"/>
                </a:solidFill>
                <a:latin typeface="Segoe UI"/>
              </a:rPr>
              <a:t>it is one idea at two strengths, and the weight was the experiment. ×1 buys purity, ×3 buys completeness — neither wins both, so the choice depends on what the analysis needs.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419087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6B7280"/>
                </a:solidFill>
                <a:latin typeface="Segoe UI"/>
              </a:rPr>
              <a:t>Pooled over all four tiers, as in the Shamir Sorting Audit. Noise floor: stock run twice differs by 0.9 recall / 1.6 precision, all of it on the hard tier.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1A1F2E"/>
                </a:solidFill>
                <a:latin typeface="Segoe UI"/>
              </a:rPr>
              <a:t>Scores are for the one best-matching cluster per injected unit — 13 of the ~200 clusters a run produces.  </a:t>
            </a:r>
            <a:r>
              <a:rPr sz="950" b="0">
                <a:solidFill>
                  <a:srgbClr val="6B7280"/>
                </a:solidFill>
                <a:latin typeface="Segoe UI"/>
              </a:rPr>
              <a:t>The rest are the recording's own neurons, which have no ground truth and are never scored.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120">
                <a:solidFill>
                  <a:srgbClr val="0F6E6E"/>
                </a:solidFill>
                <a:latin typeface="Segoe UI"/>
              </a:rPr>
              <a:t>THE OBVIOUS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A1F2E"/>
                </a:solidFill>
                <a:latin typeface="Segoe UI"/>
              </a:rPr>
              <a:t>Why merging the pieces back together does not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70432"/>
            <a:ext cx="11064240" cy="11887"/>
          </a:xfrm>
          <a:prstGeom prst="rect">
            <a:avLst/>
          </a:prstGeom>
          <a:solidFill>
            <a:srgbClr val="D7D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F2E"/>
                </a:solidFill>
                <a:latin typeface="Segoe UI"/>
              </a:rPr>
              <a:t>We merged while being told the right answer — the best any merge tool could ever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38528"/>
            <a:ext cx="3611880" cy="13898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84831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6E6E"/>
                </a:solidFill>
                <a:latin typeface="Segoe UI"/>
              </a:rPr>
              <a:t>0 of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151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E"/>
                </a:solidFill>
                <a:latin typeface="Segoe UI"/>
              </a:rPr>
              <a:t>algorithm × tier cells where merging won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907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it lost in every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938528"/>
            <a:ext cx="3611880" cy="13898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2084831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6E6E"/>
                </a:solidFill>
                <a:latin typeface="Segoe UI"/>
              </a:rPr>
              <a:t>+5 / −12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6151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E"/>
                </a:solidFill>
                <a:latin typeface="Segoe UI"/>
              </a:rPr>
              <a:t>typical recall gained / precision lost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907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best case anywhere: +3.2 / −3.6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38528"/>
            <a:ext cx="3611880" cy="1389888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084831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0F6E6E"/>
                </a:solidFill>
                <a:latin typeface="Segoe UI"/>
              </a:rPr>
              <a:t>80.6%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151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A1F2E"/>
                </a:solidFill>
                <a:latin typeface="Segoe UI"/>
              </a:rPr>
              <a:t>of what comes in is another neuron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9077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Segoe UI"/>
              </a:rPr>
              <a:t>a real spike, not noise — chance is 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639312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Segoe UI"/>
              </a:rPr>
              <a:t>There was little to merge in the first place. </a:t>
            </a:r>
            <a:r>
              <a:rPr sz="1400" b="0">
                <a:solidFill>
                  <a:srgbClr val="6B7280"/>
                </a:solidFill>
                <a:latin typeface="Segoe UI"/>
              </a:rPr>
              <a:t>67–77% of units already sit in one cluster.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114800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Segoe UI"/>
              </a:rPr>
              <a:t>Merging imports a neighbour's spike train, </a:t>
            </a:r>
            <a:r>
              <a:rPr sz="1400" b="0">
                <a:solidFill>
                  <a:srgbClr val="6B7280"/>
                </a:solidFill>
                <a:latin typeface="Segoe UI"/>
              </a:rPr>
              <a:t>so the cluster stops being a single cell.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5902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F2E"/>
                </a:solidFill>
                <a:latin typeface="Segoe UI"/>
              </a:rPr>
              <a:t>A perfect merge tool makes every variant identical, </a:t>
            </a:r>
            <a:r>
              <a:rPr sz="1400" b="0">
                <a:solidFill>
                  <a:srgbClr val="6B7280"/>
                </a:solidFill>
                <a:latin typeface="Segoe UI"/>
              </a:rPr>
              <a:t>all converging to about 78% recall / 46% precision.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30367"/>
            <a:ext cx="11064240" cy="932688"/>
          </a:xfrm>
          <a:prstGeom prst="roundRect">
            <a:avLst>
              <a:gd name="adj" fmla="val 3500"/>
            </a:avLst>
          </a:prstGeom>
          <a:solidFill>
            <a:srgbClr val="E8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394959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6E6E"/>
                </a:solidFill>
                <a:latin typeface="Segoe UI"/>
              </a:rPr>
              <a:t>So the failure is not detection and not splitting.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F2E"/>
                </a:solidFill>
                <a:latin typeface="Segoe UI"/>
              </a:rPr>
              <a:t>94–96% of injected spikes do land in some cluster. The problem is which cluster each spike goes to — so the lead is the opposite operation: splitting Kilosort's mixed clusters.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